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62E4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60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OVERVIEW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writing ETL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by hand.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Informatica Conversion Tool transforms legacy Informatica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into production-ready PySpark, dbt, or Python code.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160520"/>
            <a:ext cx="1920240" cy="502920"/>
          </a:xfrm>
          <a:prstGeom prst="rect">
            <a:avLst/>
          </a:prstGeom>
          <a:solidFill>
            <a:srgbClr val="1A7A4A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12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Pipeline Steps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0" y="4160520"/>
            <a:ext cx="1920240" cy="502920"/>
          </a:xfrm>
          <a:prstGeom prst="rect">
            <a:avLst/>
          </a:prstGeom>
          <a:solidFill>
            <a:srgbClr val="1A7A4A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Human Review Gates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54880" y="4160520"/>
            <a:ext cx="1920240" cy="502920"/>
          </a:xfrm>
          <a:prstGeom prst="rect">
            <a:avLst/>
          </a:prstGeom>
          <a:solidFill>
            <a:srgbClr val="1A7A4A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Output Stacks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66560" y="4160520"/>
            <a:ext cx="1920240" cy="502920"/>
          </a:xfrm>
          <a:prstGeom prst="rect">
            <a:avLst/>
          </a:prstGeom>
          <a:solidFill>
            <a:srgbClr val="1A7A4A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100%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Execution-Ready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Informatica PowerCenter is slow, error-prone, and expensive.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64008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72768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Months of Manual Work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Each mapping takes 2–8 hours of expert time to re-implement and test by hand.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463040"/>
            <a:ext cx="64008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572768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Undocumented Logic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Business rules buried in transformations are misread or dropped during migration.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463040"/>
            <a:ext cx="64008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6291072" y="1572768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No Consistency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Different engineers produce different output styles, making code review impossible.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43200"/>
            <a:ext cx="64008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852928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Regression Risk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Without automated reconciliation, row-count drift goes undetected until production.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274320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2743200"/>
            <a:ext cx="64008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3456432" y="2852928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Security Gaps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Hardcoded credentials and unvetted SQL injection vectors routinely survive manual ports.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274320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2743200"/>
            <a:ext cx="64008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6291072" y="2852928"/>
            <a:ext cx="2395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Stalled Modernisation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Backlogs of 300–2 000 mappings block cloud migration programmes for 12–36 months.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12-step AI pipeline that converts Informatica mappings into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execution-ready code — automatically.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2560320" cy="2743200"/>
          </a:xfrm>
          <a:prstGeom prst="rect">
            <a:avLst/>
          </a:prstGeom>
          <a:solidFill>
            <a:srgbClr val="142E4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65960"/>
            <a:ext cx="2560320" cy="6400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60604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Parses XML/XSD source files end-to-end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Assigns stack automatically by complexity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Generates complete, runnable code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Validates syntax before delivery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56432" y="1965960"/>
            <a:ext cx="2560320" cy="2743200"/>
          </a:xfrm>
          <a:prstGeom prst="rect">
            <a:avLst/>
          </a:prstGeom>
          <a:solidFill>
            <a:srgbClr val="142E4E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6432" y="1965960"/>
            <a:ext cx="2560320" cy="640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3621024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21024" y="260604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Security scan — no hardcoded creds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Logic equivalence review by Claude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3 mandatory human sign-off gates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Performance anti-pattern detection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1344" y="1965960"/>
            <a:ext cx="2560320" cy="2743200"/>
          </a:xfrm>
          <a:prstGeom prst="rect">
            <a:avLst/>
          </a:prstGeom>
          <a:solidFill>
            <a:srgbClr val="142E4E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1344" y="1965960"/>
            <a:ext cx="2560320" cy="64008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5" name="Text 13"/>
          <p:cNvSpPr/>
          <p:nvPr/>
        </p:nvSpPr>
        <p:spPr>
          <a:xfrm>
            <a:off x="6345936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260604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ZIP package — every file included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dbt: EL script + profiles + orchestrator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PySpark: broadcast hints, partitioning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Full audit trail in signed manifest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12-STEP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412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950976"/>
            <a:ext cx="777240" cy="29260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95097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673352" y="90525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Parse XML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435608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435608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4356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1545336"/>
            <a:ext cx="777240" cy="29260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54533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673352" y="149961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Config Extract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029968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029968"/>
            <a:ext cx="457200" cy="502920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0299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2139696"/>
            <a:ext cx="777240" cy="29260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1396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673352" y="209397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Scoring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624328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624328"/>
            <a:ext cx="457200" cy="502920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6243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2734056"/>
            <a:ext cx="777240" cy="29260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27340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673352" y="268833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Assignment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218688"/>
            <a:ext cx="3931920" cy="502920"/>
          </a:xfrm>
          <a:prstGeom prst="rect">
            <a:avLst/>
          </a:prstGeom>
          <a:solidFill>
            <a:srgbClr val="FFF0E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218688"/>
            <a:ext cx="45720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32186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22960" y="3328416"/>
            <a:ext cx="777240" cy="29260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33284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673352" y="328269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 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3813048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813048"/>
            <a:ext cx="457200" cy="50292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38130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22960" y="3922776"/>
            <a:ext cx="777240" cy="29260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392277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673352" y="387705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92040" y="841248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92040" y="841248"/>
            <a:ext cx="457200" cy="50292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8412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394960" y="950976"/>
            <a:ext cx="777240" cy="29260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4" name="Text 42"/>
          <p:cNvSpPr/>
          <p:nvPr/>
        </p:nvSpPr>
        <p:spPr>
          <a:xfrm>
            <a:off x="5394960" y="95097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245352" y="90525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892040" y="1435608"/>
            <a:ext cx="3931920" cy="502920"/>
          </a:xfrm>
          <a:prstGeom prst="rect">
            <a:avLst/>
          </a:prstGeom>
          <a:solidFill>
            <a:srgbClr val="FFF0E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92040" y="1435608"/>
            <a:ext cx="45720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14356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394960" y="1545336"/>
            <a:ext cx="777240" cy="29260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0" name="Text 48"/>
          <p:cNvSpPr/>
          <p:nvPr/>
        </p:nvSpPr>
        <p:spPr>
          <a:xfrm>
            <a:off x="5394960" y="154533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245352" y="149961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 2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892040" y="2029968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92040" y="2029968"/>
            <a:ext cx="457200" cy="5029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54" name="Text 52"/>
          <p:cNvSpPr/>
          <p:nvPr/>
        </p:nvSpPr>
        <p:spPr>
          <a:xfrm>
            <a:off x="4892040" y="20299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394960" y="2139696"/>
            <a:ext cx="777240" cy="29260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56" name="Text 54"/>
          <p:cNvSpPr/>
          <p:nvPr/>
        </p:nvSpPr>
        <p:spPr>
          <a:xfrm>
            <a:off x="5394960" y="21396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245352" y="209397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Review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892040" y="2624328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92040" y="2624328"/>
            <a:ext cx="457200" cy="5029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60" name="Text 58"/>
          <p:cNvSpPr/>
          <p:nvPr/>
        </p:nvSpPr>
        <p:spPr>
          <a:xfrm>
            <a:off x="4892040" y="26243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394960" y="2734056"/>
            <a:ext cx="777240" cy="29260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62" name="Text 60"/>
          <p:cNvSpPr/>
          <p:nvPr/>
        </p:nvSpPr>
        <p:spPr>
          <a:xfrm>
            <a:off x="5394960" y="27340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245352" y="268833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Report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892040" y="3218688"/>
            <a:ext cx="3931920" cy="502920"/>
          </a:xfrm>
          <a:prstGeom prst="rect">
            <a:avLst/>
          </a:prstGeom>
          <a:solidFill>
            <a:srgbClr val="FFF0E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92040" y="3218688"/>
            <a:ext cx="45720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6" name="Text 64"/>
          <p:cNvSpPr/>
          <p:nvPr/>
        </p:nvSpPr>
        <p:spPr>
          <a:xfrm>
            <a:off x="4892040" y="32186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5394960" y="3328416"/>
            <a:ext cx="777240" cy="29260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68" name="Text 66"/>
          <p:cNvSpPr/>
          <p:nvPr/>
        </p:nvSpPr>
        <p:spPr>
          <a:xfrm>
            <a:off x="5394960" y="33284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245352" y="328269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Gate 3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4892040" y="3813048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892040" y="3813048"/>
            <a:ext cx="457200" cy="5029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72" name="Text 70"/>
          <p:cNvSpPr/>
          <p:nvPr/>
        </p:nvSpPr>
        <p:spPr>
          <a:xfrm>
            <a:off x="4892040" y="38130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5394960" y="3922776"/>
            <a:ext cx="777240" cy="29260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74" name="Text 72"/>
          <p:cNvSpPr/>
          <p:nvPr/>
        </p:nvSpPr>
        <p:spPr>
          <a:xfrm>
            <a:off x="5394960" y="392277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245352" y="3877056"/>
            <a:ext cx="24871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&amp; ZIP Delivery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4480560" y="841248"/>
            <a:ext cx="0" cy="4210812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— THREE OUTPUT STACKS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6517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86868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9768" y="1417320"/>
            <a:ext cx="2432304" cy="25603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1732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complexity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78308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FILES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9768" y="201168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job_&lt;mapping&gt;.py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reconciliation report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768" y="3017520"/>
            <a:ext cx="2432304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315468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FEATURES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9768" y="3383280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broadcast() hints on lookups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repartition() on reads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spark.conf.set shuffle partitions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persist/unpersist checkpoints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No Python UDFs — native Spark only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54680" y="86868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868680"/>
            <a:ext cx="2651760" cy="4572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6" name="Text 14"/>
          <p:cNvSpPr/>
          <p:nvPr/>
        </p:nvSpPr>
        <p:spPr>
          <a:xfrm>
            <a:off x="3264408" y="86868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64408" y="1417320"/>
            <a:ext cx="2432304" cy="25603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141732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complexity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64408" y="178308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FILES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64408" y="201168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models/*.sql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sources.yml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extract/extract_*.py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run_pipeline.py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profiles.yml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requirements.txt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64408" y="3017520"/>
            <a:ext cx="2432304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315468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FEATURES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64408" y="3383280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Incremental materialisation on fact tables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Auto-detected warehouse adapter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Python EL extraction script included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Orchestration wrapper (EL → run → test)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Profile template — env-var credentials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89320" y="86868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9320" y="868680"/>
            <a:ext cx="265176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6099048" y="86868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Pandas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099048" y="1417320"/>
            <a:ext cx="2432304" cy="25603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99048" y="141732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complexity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99048" y="178308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FILES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99048" y="201168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transform_&lt;mapping&gt;.py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reconciliation report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99048" y="3017520"/>
            <a:ext cx="2432304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99048" y="315468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FEATURES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99048" y="3383280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Chunked I/O (chunksize=100k)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Vectorised operations — no iterrows()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Memory-efficient hash-map joins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Full chunk pipeline — no accumulation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SQLAlchemy connections for JDBC sources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114800" cy="64008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1005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4632" y="14173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conversion runs a dedicated security scan: SQL injection detection, hardcoded credential check, input validation gaps, and non-parameterised query identification. Issues are flagged as CRITICAL/HIGH/MEDIUM/LOW before any human review gate.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68680"/>
            <a:ext cx="4114800" cy="6400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0" name="Text 8"/>
          <p:cNvSpPr/>
          <p:nvPr/>
        </p:nvSpPr>
        <p:spPr>
          <a:xfrm>
            <a:off x="4828032" y="1005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28032" y="14173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mandatory checkpoints where an operator must explicitly approve before the pipeline continues. Gate 1: approve the stack assignment. Gate 2: approve generated code. Gate 3: sign off the full conversion package including test and reconciliation reports.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017520"/>
            <a:ext cx="4114800" cy="640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" y="3154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" y="35661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are submitted individually or in bulk via the Batch API. The orchestrator processes jobs concurrently with configurable parallelism. A single batch manifest covers all included mappings, and the batch ZIP contains all conversion outputs in one download.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017520"/>
            <a:ext cx="4114800" cy="640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4828032" y="3154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Pre-Conversion Manifest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28032" y="35661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single line of code is generated, the tool produces a signed manifest listing every mapping, its assigned stack, complexity tier, and validation status. Operators review what will be converted and approve the scope — no surprises at delivery.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772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months to minutes.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Informatica Conversion Tool is production-ready today. Every output 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security-reviewed, human-approved, and execution-ready — no glue code required.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1874520" cy="1005840"/>
          </a:xfrm>
          <a:prstGeom prst="rect">
            <a:avLst/>
          </a:prstGeom>
          <a:solidFill>
            <a:srgbClr val="162E4D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700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31821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Steps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70632" y="2560320"/>
            <a:ext cx="1874520" cy="1005840"/>
          </a:xfrm>
          <a:prstGeom prst="rect">
            <a:avLst/>
          </a:prstGeom>
          <a:solidFill>
            <a:srgbClr val="162E4D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26700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70632" y="31821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9744" y="2560320"/>
            <a:ext cx="1874520" cy="1005840"/>
          </a:xfrm>
          <a:prstGeom prst="rect">
            <a:avLst/>
          </a:prstGeom>
          <a:solidFill>
            <a:srgbClr val="162E4D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9744" y="26700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809744" y="31821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Stacks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48856" y="2560320"/>
            <a:ext cx="1874520" cy="1005840"/>
          </a:xfrm>
          <a:prstGeom prst="rect">
            <a:avLst/>
          </a:prstGeom>
          <a:solidFill>
            <a:srgbClr val="162E4D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48856" y="26700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v2.7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48856" y="31821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Reach out to the conversion tooling team for a live demo on your own mappings.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Informatica Conversion Tool — Internal Overview</dc:title>
  <dc:subject>PptxGenJS Presentation</dc:subject>
  <dc:creator>Informatica Conversion Tool</dc:creator>
  <cp:lastModifiedBy>Informatica Conversion Tool</cp:lastModifiedBy>
  <cp:revision>1</cp:revision>
  <dcterms:created xsi:type="dcterms:W3CDTF">2026-03-04T14:31:20Z</dcterms:created>
  <dcterms:modified xsi:type="dcterms:W3CDTF">2026-03-04T14:31:20Z</dcterms:modified>
</cp:coreProperties>
</file>